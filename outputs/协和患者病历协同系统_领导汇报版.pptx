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5ed4d536af4faf" /><Relationship Type="http://schemas.openxmlformats.org/officeDocument/2006/relationships/extended-properties" Target="/docProps/app.xml" Id="R175ff187fb414479" /><Relationship Type="http://schemas.openxmlformats.org/officeDocument/2006/relationships/officeDocument" Target="/ppt/presentation.xml" Id="R555a2ed493f544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b893b9b3cc4c1d"/>
  </p:sldMasterIdLst>
  <p:notesMasterIdLst>
    <p:notesMasterId xmlns:r="http://schemas.openxmlformats.org/officeDocument/2006/relationships" r:id="R014b3413f8f44195"/>
  </p:notesMasterIdLst>
  <p:sldIdLst>
    <p:sldId xmlns:r="http://schemas.openxmlformats.org/officeDocument/2006/relationships" id="256" r:id="R1d8f34f0ea8c4825"/>
    <p:sldId xmlns:r="http://schemas.openxmlformats.org/officeDocument/2006/relationships" id="257" r:id="R3e8782f51862427f"/>
    <p:sldId xmlns:r="http://schemas.openxmlformats.org/officeDocument/2006/relationships" id="258" r:id="Re277ec3db6104bc5"/>
    <p:sldId xmlns:r="http://schemas.openxmlformats.org/officeDocument/2006/relationships" id="259" r:id="Rf90d45cdcad14f55"/>
    <p:sldId xmlns:r="http://schemas.openxmlformats.org/officeDocument/2006/relationships" id="260" r:id="Rf81753a3333d4eeb"/>
    <p:sldId xmlns:r="http://schemas.openxmlformats.org/officeDocument/2006/relationships" id="261" r:id="R28e40477829e47ff"/>
    <p:sldId xmlns:r="http://schemas.openxmlformats.org/officeDocument/2006/relationships" id="262" r:id="Rcca29473aa9f427b"/>
    <p:sldId xmlns:r="http://schemas.openxmlformats.org/officeDocument/2006/relationships" id="263" r:id="Re93b7756c2884ff0"/>
    <p:sldId xmlns:r="http://schemas.openxmlformats.org/officeDocument/2006/relationships" id="264" r:id="R7e915502989142ee"/>
    <p:sldId xmlns:r="http://schemas.openxmlformats.org/officeDocument/2006/relationships" id="265" r:id="R76c3d3da4d5a4ddb"/>
    <p:sldId xmlns:r="http://schemas.openxmlformats.org/officeDocument/2006/relationships" id="266" r:id="R3adc7245aae24bb6"/>
    <p:sldId xmlns:r="http://schemas.openxmlformats.org/officeDocument/2006/relationships" id="267" r:id="Re5464a084fbe423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0234c9cf054e4a" /><Relationship Type="http://schemas.openxmlformats.org/officeDocument/2006/relationships/slideMaster" Target="/ppt/slideMasters/slideMaster1.xml" Id="R1cb893b9b3cc4c1d" /><Relationship Type="http://schemas.openxmlformats.org/officeDocument/2006/relationships/notesMaster" Target="/ppt/notesMasters/notesMaster1.xml" Id="R014b3413f8f44195" /><Relationship Type="http://schemas.openxmlformats.org/officeDocument/2006/relationships/presProps" Target="/ppt/presProps.xml" Id="R6eb6d963672f4df7" /><Relationship Type="http://schemas.openxmlformats.org/officeDocument/2006/relationships/tableStyles" Target="/ppt/tableStyles.xml" Id="R803d4f00b44b4df9" /><Relationship Type="http://schemas.openxmlformats.org/officeDocument/2006/relationships/slide" Target="/ppt/slides/slide1.xml" Id="R1d8f34f0ea8c4825" /><Relationship Type="http://schemas.openxmlformats.org/officeDocument/2006/relationships/slide" Target="/ppt/slides/slide2.xml" Id="R3e8782f51862427f" /><Relationship Type="http://schemas.openxmlformats.org/officeDocument/2006/relationships/slide" Target="/ppt/slides/slide3.xml" Id="Re277ec3db6104bc5" /><Relationship Type="http://schemas.openxmlformats.org/officeDocument/2006/relationships/slide" Target="/ppt/slides/slide4.xml" Id="Rf90d45cdcad14f55" /><Relationship Type="http://schemas.openxmlformats.org/officeDocument/2006/relationships/slide" Target="/ppt/slides/slide5.xml" Id="Rf81753a3333d4eeb" /><Relationship Type="http://schemas.openxmlformats.org/officeDocument/2006/relationships/slide" Target="/ppt/slides/slide6.xml" Id="R28e40477829e47ff" /><Relationship Type="http://schemas.openxmlformats.org/officeDocument/2006/relationships/slide" Target="/ppt/slides/slide7.xml" Id="Rcca29473aa9f427b" /><Relationship Type="http://schemas.openxmlformats.org/officeDocument/2006/relationships/slide" Target="/ppt/slides/slide8.xml" Id="Re93b7756c2884ff0" /><Relationship Type="http://schemas.openxmlformats.org/officeDocument/2006/relationships/slide" Target="/ppt/slides/slide9.xml" Id="R7e915502989142ee" /><Relationship Type="http://schemas.openxmlformats.org/officeDocument/2006/relationships/slide" Target="/ppt/slides/slide10.xml" Id="R76c3d3da4d5a4ddb" /><Relationship Type="http://schemas.openxmlformats.org/officeDocument/2006/relationships/slide" Target="/ppt/slides/slide11.xml" Id="R3adc7245aae24bb6" /><Relationship Type="http://schemas.openxmlformats.org/officeDocument/2006/relationships/slide" Target="/ppt/slides/slide12.xml" Id="Re5464a084fbe42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502305e48745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e9e765c1184c95" /><Relationship Type="http://schemas.openxmlformats.org/officeDocument/2006/relationships/notesMaster" Target="/ppt/notesMasters/notesMaster1.xml" Id="R920d05f3dd8c43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4c88656f464c7d" /><Relationship Type="http://schemas.openxmlformats.org/officeDocument/2006/relationships/notesMaster" Target="/ppt/notesMasters/notesMaster1.xml" Id="R5c9564dcb26d48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85731b95024afc" /><Relationship Type="http://schemas.openxmlformats.org/officeDocument/2006/relationships/notesMaster" Target="/ppt/notesMasters/notesMaster1.xml" Id="R046bff8e07854f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a1a4295b114892" /><Relationship Type="http://schemas.openxmlformats.org/officeDocument/2006/relationships/notesMaster" Target="/ppt/notesMasters/notesMaster1.xml" Id="R9acc4b10234349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3736100460424a" /><Relationship Type="http://schemas.openxmlformats.org/officeDocument/2006/relationships/notesMaster" Target="/ppt/notesMasters/notesMaster1.xml" Id="Rf2d12b42694341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55b5dab9cf439e" /><Relationship Type="http://schemas.openxmlformats.org/officeDocument/2006/relationships/notesMaster" Target="/ppt/notesMasters/notesMaster1.xml" Id="Re61b3409e7c24e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8e77c8b34d4c0e" /><Relationship Type="http://schemas.openxmlformats.org/officeDocument/2006/relationships/notesMaster" Target="/ppt/notesMasters/notesMaster1.xml" Id="Rda52f284b1bd4a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3a3268b16f4361" /><Relationship Type="http://schemas.openxmlformats.org/officeDocument/2006/relationships/notesMaster" Target="/ppt/notesMasters/notesMaster1.xml" Id="R8ff79ca71ac24d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d8ad05872145d0" /><Relationship Type="http://schemas.openxmlformats.org/officeDocument/2006/relationships/notesMaster" Target="/ppt/notesMasters/notesMaster1.xml" Id="Rd8fe2ec2dad045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e755f28f304b9f" /><Relationship Type="http://schemas.openxmlformats.org/officeDocument/2006/relationships/notesMaster" Target="/ppt/notesMasters/notesMaster1.xml" Id="Ra399c31393a046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069f46b2114a1b" /><Relationship Type="http://schemas.openxmlformats.org/officeDocument/2006/relationships/notesMaster" Target="/ppt/notesMasters/notesMaster1.xml" Id="R909a85cd61f048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96d688499a4b1c" /><Relationship Type="http://schemas.openxmlformats.org/officeDocument/2006/relationships/notesMaster" Target="/ppt/notesMasters/notesMaster1.xml" Id="Rfecfcf058e7148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c9142993cc40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a2f3c27f504172" /><Relationship Type="http://schemas.openxmlformats.org/officeDocument/2006/relationships/slideLayout" Target="/ppt/slideLayouts/slideLayout1.xml" Id="Rf702285db35d4f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02285db35d4f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db97f956f408f" /><Relationship Type="http://schemas.openxmlformats.org/officeDocument/2006/relationships/notesSlide" Target="/ppt/notesSlides/notesSlide1.xml" Id="R0295cd7f601f44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187dafd0b497a" /><Relationship Type="http://schemas.openxmlformats.org/officeDocument/2006/relationships/notesSlide" Target="/ppt/notesSlides/notesSlide2.xml" Id="R3de927a842bd42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75813d7414549" /><Relationship Type="http://schemas.openxmlformats.org/officeDocument/2006/relationships/notesSlide" Target="/ppt/notesSlides/notesSlide3.xml" Id="R9076dd4f5b9544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b79cddc7b48d3" /><Relationship Type="http://schemas.openxmlformats.org/officeDocument/2006/relationships/notesSlide" Target="/ppt/notesSlides/notesSlide4.xml" Id="R6d75ea42d66e42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d8246ed0a438e" /><Relationship Type="http://schemas.openxmlformats.org/officeDocument/2006/relationships/notesSlide" Target="/ppt/notesSlides/notesSlide5.xml" Id="R04d0fd6e9a4449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d741dd8854229" /><Relationship Type="http://schemas.openxmlformats.org/officeDocument/2006/relationships/notesSlide" Target="/ppt/notesSlides/notesSlide6.xml" Id="Rab0fdfc7986349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28bbf431d49ee" /><Relationship Type="http://schemas.openxmlformats.org/officeDocument/2006/relationships/notesSlide" Target="/ppt/notesSlides/notesSlide7.xml" Id="R30a003d818584d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42bd81fb74d93" /><Relationship Type="http://schemas.openxmlformats.org/officeDocument/2006/relationships/notesSlide" Target="/ppt/notesSlides/notesSlide8.xml" Id="Rada77c85f98049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4b4ff4de54637" /><Relationship Type="http://schemas.openxmlformats.org/officeDocument/2006/relationships/notesSlide" Target="/ppt/notesSlides/notesSlide9.xml" Id="R72479aa7add943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089fd24194447" /><Relationship Type="http://schemas.openxmlformats.org/officeDocument/2006/relationships/notesSlide" Target="/ppt/notesSlides/notesSlide10.xml" Id="R09cb4ce05e4345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9264133bb498a" /><Relationship Type="http://schemas.openxmlformats.org/officeDocument/2006/relationships/notesSlide" Target="/ppt/notesSlides/notesSlide11.xml" Id="R7f237bd88d5f42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e556a6d5e4d3b" /><Relationship Type="http://schemas.openxmlformats.org/officeDocument/2006/relationships/notesSlide" Target="/ppt/notesSlides/notesSlide12.xml" Id="R3ef7fe1cd1464d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3A6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E9A2A5-D533-4195-841E-69DCDE66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262D7-E32D-40E6-B86B-FD97FC62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7625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D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E55C3-21A5-49BF-8DE2-E04C41FB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F6EEB-C464-41A5-A1DE-165729F5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1556D-0310-4413-B5CE-70AC6BE6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7810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C7B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53C40-B613-46DC-AD5D-D05D85BC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47825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77E64-6103-4EDD-A4F6-F9F6D562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479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6EE9F-0EE5-4D1E-9137-631A58BD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38350"/>
            <a:ext cx="171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BD544-6551-4832-B05D-74E4F333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390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7FF"/>
          </a:solidFill>
          <a:ln xmlns:a="http://schemas.openxmlformats.org/drawingml/2006/main" w="9525">
            <a:solidFill>
              <a:srgbClr val="1FB6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B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B6D9"/>
                </a:solidFill>
                <a:latin typeface="Microsoft YaHei"/>
                <a:ea typeface="Microsoft YaHei"/>
                <a:cs typeface="Microsoft YaHei"/>
              </a:rPr>
              <a:t>内网门诊试运行 | 可检查 · 可复核 · 可追溯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499B4-D4DE-4146-B988-7DBA5698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76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协和患者病历协同系统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FFFFE-3764-4132-A876-B14FFB4B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F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9F7EE"/>
                </a:solidFill>
                <a:latin typeface="Microsoft YaHei"/>
                <a:ea typeface="Microsoft YaHei"/>
                <a:cs typeface="Microsoft YaHei"/>
              </a:rPr>
              <a:t>患者病历协同 + 科室物资申领与库存追溯台账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40DA9-7B49-4B57-913D-7AE4AC7A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657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E6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E6F7FF"/>
                </a:solidFill>
                <a:latin typeface="Microsoft YaHei"/>
                <a:ea typeface="Microsoft YaHei"/>
                <a:cs typeface="Microsoft YaHei"/>
              </a:rPr>
              <a:t>面向门诊一线生产场景，替代分散纸质记录、Excel 台账和口头流转，形成可检查、可留痕、可持续扩展的院内工作台。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16978-1ADC-4F97-A973-7EF19B35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390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45B89"/>
          </a:solidFill>
          <a:ln xmlns:a="http://schemas.openxmlformats.org/drawingml/2006/main" w="9525">
            <a:solidFill>
              <a:srgbClr val="B9F7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病历集中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1B46F-B445-4F77-8987-7B78017B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1390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45B89"/>
          </a:solidFill>
          <a:ln xmlns:a="http://schemas.openxmlformats.org/drawingml/2006/main" w="9525">
            <a:solidFill>
              <a:srgbClr val="B9F7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附件留痕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C7A50C-6F3A-4F2E-9E1C-A05D0432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62500"/>
            <a:ext cx="1390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45B89"/>
          </a:solidFill>
          <a:ln xmlns:a="http://schemas.openxmlformats.org/drawingml/2006/main" w="9525">
            <a:solidFill>
              <a:srgbClr val="B9F7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物资闭环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021E3C-C236-49A2-B47A-41D437BD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62500"/>
            <a:ext cx="1390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45B89"/>
          </a:solidFill>
          <a:ln xmlns:a="http://schemas.openxmlformats.org/drawingml/2006/main" w="9525">
            <a:solidFill>
              <a:srgbClr val="B9F7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领导可查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0E174C-78D4-47BE-812A-01AD8143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53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 内测交付汇报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55A99F-7428-499C-998D-94A7733F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096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479498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2ED0AA-8D37-488F-9E72-B5ADB81C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7F7EE-52A3-4196-AAD2-DEBE7016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7625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749931-FACF-47F0-A9FB-7F0886B1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当前痛点：信息分散导致管理成本高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A083588-767D-45EF-868E-98C80F01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rPr>
              <a:t>从“找得到”到“查得准”，先解决一线协同的基础问题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F1049-BBA4-497E-8451-BFBEA317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39BB3-29CE-426D-8835-159B57E0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23975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43973-88D0-4CD8-9996-D9D2A709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5B902-B29C-4FB2-9FD2-5655B139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F1B15-DFA5-4B84-9A62-9FDE10E2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574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FD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0C04E-FE45-4620-A873-C8B115D3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00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rPr>
              <a:t>病历资料分散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45E17-ABBB-4ADC-B076-B32BDBDF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3812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纸质、附件、沟通记录分散，后续复查和交接成本高。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7C343D-36AD-4615-A2A7-78CEE3A5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3355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B045C-F9C1-420E-A8AF-EFB8A57C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335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1E713-EEC6-44E4-955B-5C8DAE6D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4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DF383E-A5AC-4194-873B-10C362B6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00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7A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7A45"/>
                </a:solidFill>
                <a:latin typeface="Microsoft YaHei"/>
                <a:ea typeface="Microsoft YaHei"/>
                <a:cs typeface="Microsoft YaHei"/>
              </a:rPr>
              <a:t>物资台账滞后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E8FBA0-546D-4427-912C-26AC8B91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申领、入库、出库、盘点分散记录，无法形成实时库存视图。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86EAE7-4BDF-4444-BB17-B32974BF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9BCA2C-83F6-4C8A-A3A3-8ACCA755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FD9E7-1DC7-4CED-A812-00F261D6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3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258F74-6888-444F-9EBC-036DA31B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6957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04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04438"/>
                </a:solidFill>
                <a:latin typeface="Microsoft YaHei"/>
                <a:ea typeface="Microsoft YaHei"/>
                <a:cs typeface="Microsoft YaHei"/>
              </a:rPr>
              <a:t>责任链条不清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C2B2C7-E377-4493-8FF5-11568039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767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操作缺少统一留痕，异常追溯依赖人工询问。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46981E-7230-4804-B175-068EF534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2900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FD8826-A72D-498F-8F93-536807D2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290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447F2C-9645-4853-9C08-33CA4AD6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730EFD-54C1-429C-A4EE-A79CCD9D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957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rPr>
              <a:t>领导检查费时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8FCD60-E9C5-4022-BF62-5367D7D4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767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缺少按日期、科室、状态快速抽查的管理入口。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94E9FC-9A86-4DFD-8768-9D2DD17B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72100"/>
            <a:ext cx="10210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63A63"/>
          </a:solidFill>
          <a:ln xmlns:a="http://schemas.openxmlformats.org/drawingml/2006/main" w="0">
            <a:solidFill>
              <a:srgbClr val="063A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建设重点：把分散信息转为“统一入口、统一状态、统一留痕”的日常管理闭环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AA7DF2-86BF-4E20-B8BB-44A1FD7D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E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A8EA5"/>
                </a:solidFill>
                <a:latin typeface="Microsoft YaHei"/>
                <a:ea typeface="Microsoft YaHei"/>
                <a:cs typeface="Microsoft YaHei"/>
              </a:rPr>
              <a:t>协和患者病历协同系统 | 领导汇报版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8F000D-B231-420A-BF3A-E8E04FFF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F257CD-B948-4169-A610-1A6CD1EF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198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AA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8AA0B8"/>
                </a:solidFill>
                <a:latin typeface="Microsoft YaHei"/>
                <a:ea typeface="Microsoft YaHei"/>
                <a:cs typeface="Microsoft YaHei"/>
              </a:rPr>
              <a:t>资料来源：项目 README、PRD、交付说明、领导检查指南、前后端库存接口代码</a:t>
            </a:r>
          </a:p>
        </p:txBody>
      </p:sp>
    </p:spTree>
    <p:extLst>
      <p:ext uri="{BB962C8B-B14F-4D97-AF65-F5344CB8AC3E}">
        <p14:creationId xmlns:p14="http://schemas.microsoft.com/office/powerpoint/2010/main" val="21207456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ACC5E3-47D1-4891-A350-CBEABEFB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E4574-8173-4948-A609-B91179CE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7625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BD8AEC-B297-4BF0-936F-1169204F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建设目标：先跑通院内最小闭环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4E06CF8-CFC3-4A52-A6C7-EE64A460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rPr>
              <a:t>以可落地、可验收、可推广为优先级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8BC35-81E8-4FD5-8DC8-16171729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D55D2-D325-4D60-A910-652CB270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23975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52D1D-1BA2-47DB-A17D-147F55C7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2305050" cy="278130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25CA3-78F9-40A6-8258-4DB8CE27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611B1-2E49-40D7-9878-AF60E63C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1930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05BEF-1FB0-4D05-9197-F745A086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81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统一入口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78C8D-9A01-4D6A-A5EC-C2331FB7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1657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患者病历、附件、物资台账集中到同一工作台。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FF5147-542C-408B-9F68-250E20FB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90700"/>
            <a:ext cx="2305050" cy="278130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FEE40-A00E-45F5-9A28-08E399B5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9070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5ACD8-B48B-415A-91A7-BD5D89AD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1930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61019-1CAC-4219-8921-D5FB1962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81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流程闭环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77339E-B8BF-4361-BAE2-EC14FF4B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95650"/>
            <a:ext cx="1657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申领、审批、入库、出库、盘点、追溯全链路留痕。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CA3665-2E55-4D0D-AB6D-C1433CB4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2305050" cy="278130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CE4050-BB17-4C02-A534-A3E1C879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034DDB-51FE-4F27-A6D8-0293B55C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1930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B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B02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99CFC4-0638-4D55-9823-1EA1F156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角色清晰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90640A-9E13-449A-B86E-76DBF6E8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95650"/>
            <a:ext cx="1657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医生、护士、管理员、领导各看各的关键页面。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74A8DF-0C7B-4821-84D0-C458C954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90700"/>
            <a:ext cx="2305050" cy="278130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485A97-8FE9-4897-A3CE-82502DAE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9070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CB9B41-065E-4129-B82A-F8D2B65A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1930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7A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7A4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3A8E9D-FAC1-4B69-88E8-A5CF8F05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81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内测可验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2D95BC-EF34-4512-B532-D65EB484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1657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以真实流程、真实账号、真实数据完成试运行验收。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AA868E-9F89-48C6-A409-E168BD01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813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DAA8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8B888B-B877-490B-ABD1-4F577392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8610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solidFill>
              <a:srgbClr val="0DAA8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0B7F57-17FB-4E28-8920-8B1B07ED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813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DAA8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AB0321-665E-4FA9-9AE0-31B09CF7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solidFill>
              <a:srgbClr val="0DAA8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7106C7-1874-423B-A30D-9E9342A0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813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DAA8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5DC71D-60F8-4879-BF31-031E87B6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8610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solidFill>
              <a:srgbClr val="0DAA8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C9D8DB-9923-42B0-BC2A-52C11AAE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219700"/>
            <a:ext cx="3962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0B6F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rPr>
              <a:t>目标口径：小步快跑、内测闭环、持续扩展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FAAC6C-293A-4B9F-B4A3-9A3BC116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E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A8EA5"/>
                </a:solidFill>
                <a:latin typeface="Microsoft YaHei"/>
                <a:ea typeface="Microsoft YaHei"/>
                <a:cs typeface="Microsoft YaHei"/>
              </a:rPr>
              <a:t>协和患者病历协同系统 | 领导汇报版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98BF09-0184-45B3-A81F-DDFEBB32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E3EF7C-A68B-4636-8E18-8821F83A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198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AA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8AA0B8"/>
                </a:solidFill>
                <a:latin typeface="Microsoft YaHei"/>
                <a:ea typeface="Microsoft YaHei"/>
                <a:cs typeface="Microsoft YaHei"/>
              </a:rPr>
              <a:t>资料来源：项目 README、PRD、交付说明、领导检查指南、前后端库存接口代码</a:t>
            </a:r>
          </a:p>
        </p:txBody>
      </p:sp>
    </p:spTree>
    <p:extLst>
      <p:ext uri="{BB962C8B-B14F-4D97-AF65-F5344CB8AC3E}">
        <p14:creationId xmlns:p14="http://schemas.microsoft.com/office/powerpoint/2010/main" val="13823034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166D48-7662-43F4-967E-9A8DA1BD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100D3-86D1-43B1-A01E-48B1D20B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7625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A0AA71-941F-4A25-BC99-476549E8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系统总体架构：前后端分层、业务域清晰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1BBD04B-1485-4811-BAE3-C021D004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rPr>
              <a:t>门诊一线工作台 + 业务服务 + 数据留痕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F908D-66E3-4A3C-8AA9-71FEA8B2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7CF5C-05D0-45AE-9D65-99D9FEF8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23975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E292D-B0A9-4E84-85B9-2E42590C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2762250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78BC0-A551-4D89-8788-10FA6CF0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762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CF7AA-B126-420E-ABEA-DD8F1547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FD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3BE69-53C3-4B58-A388-92D93215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669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前端工作台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B7E86-9C35-46D5-998D-097F21D6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0990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患者病历</a:t>
            </a:r>
          </a:p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附件管理</a:t>
            </a:r>
          </a:p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库存台账</a:t>
            </a:r>
          </a:p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领导看板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CD47B-E288-4573-A6BE-BE1BEA86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432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A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9B68AC-5AEE-4779-9D4C-6ABED4E1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4800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7A45"/>
          </a:solidFill>
          <a:ln xmlns:a="http://schemas.openxmlformats.org/drawingml/2006/main" w="0">
            <a:solidFill>
              <a:srgbClr val="FF7A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45D50-AE01-454D-85A9-BD964F91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05000"/>
            <a:ext cx="2762250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ADC6E-E859-4900-9443-3377B56F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05000"/>
            <a:ext cx="762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2B9AC-38AD-4F99-B3C9-8CEB55CA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90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A2ECB-54E0-424B-84DE-9279CC44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669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业务服务层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D46013-C5F3-421A-A534-076B3D4B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0990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病历协同</a:t>
            </a:r>
          </a:p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物资申领</a:t>
            </a:r>
          </a:p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库存追溯</a:t>
            </a:r>
          </a:p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权限控制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E6A153-C734-4A35-B5C0-67E49542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432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A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3925E6-ACC6-4466-8E4A-45664F2F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4800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7A45"/>
          </a:solidFill>
          <a:ln xmlns:a="http://schemas.openxmlformats.org/drawingml/2006/main" w="0">
            <a:solidFill>
              <a:srgbClr val="FF7A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CCFE35-A399-4F3C-A450-4389E9FF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05000"/>
            <a:ext cx="2762250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541DC7-2F87-460C-B0E0-1294B990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05000"/>
            <a:ext cx="762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332721-7483-4D45-B9B5-9896A0B0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D6C052-553F-4AEC-A581-5FDED0C5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669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数据与追溯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447ACF-5E9A-455D-BA6D-0D3082E8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患者资料</a:t>
            </a:r>
          </a:p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附件记录</a:t>
            </a:r>
          </a:p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库存流水</a:t>
            </a:r>
          </a:p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操作日志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E33B20-EA76-4258-8351-662DDC30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67300"/>
            <a:ext cx="94869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92F55"/>
          </a:solidFill>
          <a:ln xmlns:a="http://schemas.openxmlformats.org/drawingml/2006/main" w="0">
            <a:solidFill>
              <a:srgbClr val="092F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架构价值：既服务日常操作，也支撑领导检查、过程复核和后续模块扩展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572BC0-9871-4311-BB01-F5F937BE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E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A8EA5"/>
                </a:solidFill>
                <a:latin typeface="Microsoft YaHei"/>
                <a:ea typeface="Microsoft YaHei"/>
                <a:cs typeface="Microsoft YaHei"/>
              </a:rPr>
              <a:t>协和患者病历协同系统 | 领导汇报版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A82114-750F-4020-9527-7173CDD2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551BDD-51E6-495B-A4FD-2163C1A6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198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AA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8AA0B8"/>
                </a:solidFill>
                <a:latin typeface="Microsoft YaHei"/>
                <a:ea typeface="Microsoft YaHei"/>
                <a:cs typeface="Microsoft YaHei"/>
              </a:rPr>
              <a:t>资料来源：项目 README、PRD、交付说明、领导检查指南、前后端库存接口代码</a:t>
            </a:r>
          </a:p>
        </p:txBody>
      </p:sp>
    </p:spTree>
    <p:extLst>
      <p:ext uri="{BB962C8B-B14F-4D97-AF65-F5344CB8AC3E}">
        <p14:creationId xmlns:p14="http://schemas.microsoft.com/office/powerpoint/2010/main" val="21395021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C58765-92CC-4FB7-B40E-DC2F2BC3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3E453-F6CA-4AAD-8E59-4BECE88B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7625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FEDEF5-D2BD-40D0-8C96-79792025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核心模块一：患者病历协同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95DCC7B-56DB-4756-8FD0-602A0402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rPr>
              <a:t>把患者资料、随访记录、附件资料收拢到可查工作台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8A169-6231-4B8D-836B-81711DFF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B7C69-697C-40EF-ACAC-CC02B0F2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23975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7517D-D9BF-4614-977B-66C0AD6B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4857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53F30-07C8-4461-A8F2-FDF95BB9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ECFE3-7A08-4CDD-B2B6-91B013B4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一线使用场景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1CA67-16E4-4ABC-8534-E04D8280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F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4CEF7-EBD8-4260-B6D1-0B744E39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快速登记与查询患者基础资料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26D68-9F3E-45F3-8FED-0B1CF375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F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BE8A5-E620-4B7E-9D22-E0A9D0B0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813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维护诊疗、随访、检查相关记录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9DC96C-8D7A-4E84-B86F-9FFCA8A6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F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BFDC3-CAA3-47FB-8A82-3E740F40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上传附件并保留关联关系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5FC05A-D705-45FD-8070-43B83E80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F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7C23C0-FBE4-44F0-A17C-DAA67D94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957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支持复诊、交接、回看和抽查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A06FD6-C0AC-4D65-978E-13B76B2E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4191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9186CA-D389-4E77-8515-74EC4445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0CFD31-5905-4998-BCBE-683EBCED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管理价值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7FF7E1-2F2F-463B-9CA2-1F22E389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81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FD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5F9830-9143-44FE-9968-F85CA491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765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资料不散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B00FC1-ED37-4BF5-9980-7F18E1E1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6915B0-3565-4047-9E13-BF3A8ECC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765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过程留痕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4599F5-FAEB-4FCC-9670-2B9824EF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EA7D26-2629-4F20-9C81-9763C90F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00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查找更快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BB78AC-ABB2-4112-A5D8-0DD3343A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4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2AF2D9-ACAE-42B4-8467-2581F706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00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交接有据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3ED60F-A19A-4F05-82B3-2ED163F6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E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A8EA5"/>
                </a:solidFill>
                <a:latin typeface="Microsoft YaHei"/>
                <a:ea typeface="Microsoft YaHei"/>
                <a:cs typeface="Microsoft YaHei"/>
              </a:rPr>
              <a:t>协和患者病历协同系统 | 领导汇报版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D311A9-39ED-421A-9944-A9C8E851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EA8C81-1DC1-4723-A950-11BEC3BB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198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AA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8AA0B8"/>
                </a:solidFill>
                <a:latin typeface="Microsoft YaHei"/>
                <a:ea typeface="Microsoft YaHei"/>
                <a:cs typeface="Microsoft YaHei"/>
              </a:rPr>
              <a:t>资料来源：项目 README、PRD、交付说明、领导检查指南、前后端库存接口代码</a:t>
            </a:r>
          </a:p>
        </p:txBody>
      </p:sp>
    </p:spTree>
    <p:extLst>
      <p:ext uri="{BB962C8B-B14F-4D97-AF65-F5344CB8AC3E}">
        <p14:creationId xmlns:p14="http://schemas.microsoft.com/office/powerpoint/2010/main" val="2734775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8ADCEF-3499-4060-B46A-DF7C0449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D229E-A47C-445B-BA5D-2341D9F9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7625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D55E88-CDA7-48FB-9B88-04EB35EB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核心模块二：科室物资申领与库存追溯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C212427-D8C5-412B-8FEB-EA2418CB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rPr>
              <a:t>聚焦低值耗材、科室库存和审批流转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6182C-3C69-4496-A6A9-4A904E0D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67E56-3EA1-47D5-BDB7-3EAE3B29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23975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B6F82E-052D-45A6-8621-263664DF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4724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58F65-79AC-497B-96B6-A316AB9D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313B3-F30D-49CE-96C7-268EA2E7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57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FD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AFCB2-9599-4267-BA0B-B180D048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19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物资目录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54348-CA92-47B1-B19D-966E54D3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40030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统一维护名称、规格、单位、库存阈值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BA56C-78D4-4177-A2E1-0EF35264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52600"/>
            <a:ext cx="4724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352D2-83CE-4F52-924C-C80E31A8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526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1ABFC2-5004-4C29-AFA3-5F7033A3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8262A0-418C-4A8F-9827-0FA2DB8F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19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申领审批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D2314A-B3C1-4319-9F4C-E5645D3B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0030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科室提交需求，管理员审核处理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0E126A-DC07-4E42-BCF3-EA6E797D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724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D94FB-221A-43BE-B97E-05DF43D1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E786D9-3129-4010-B8DC-27C98421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59A080-85A3-4C7C-968F-737EA69A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00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库存流水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2EB9EC-1034-477F-B862-54577ED0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8145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入库、出库、调整、盘点形成明细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4CFD50-BAB6-4ADC-AEED-A48EF45D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4724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A3FAD-5034-47FF-9095-7E1E47CB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6FAFF6-5CE4-47B7-984A-E458F5B8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4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7F18A3-3F03-47FA-B4B8-CB3C7739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00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追溯查询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EDA197-CA5E-4739-BBEC-C1ADBF27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8145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按科室、物资、日期和状态快速定位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BED0EE-844C-476D-946C-40BEA20E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314950"/>
            <a:ext cx="6248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FF7"/>
          </a:solidFill>
          <a:ln xmlns:a="http://schemas.openxmlformats.org/drawingml/2006/main" w="9525">
            <a:solidFill>
              <a:srgbClr val="0DAA8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rPr>
              <a:t>已对齐 PRD P0：基础资料、申领、出入库、流水、库存预警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66713F-F061-4F8A-A3C8-8255B5FE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E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A8EA5"/>
                </a:solidFill>
                <a:latin typeface="Microsoft YaHei"/>
                <a:ea typeface="Microsoft YaHei"/>
                <a:cs typeface="Microsoft YaHei"/>
              </a:rPr>
              <a:t>协和患者病历协同系统 | 领导汇报版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3C41CD-9CBF-4C91-988E-60441C6A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575E0B-585A-4B2A-9A59-533F67CE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198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AA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8AA0B8"/>
                </a:solidFill>
                <a:latin typeface="Microsoft YaHei"/>
                <a:ea typeface="Microsoft YaHei"/>
                <a:cs typeface="Microsoft YaHei"/>
              </a:rPr>
              <a:t>资料来源：项目 README、PRD、交付说明、领导检查指南、前后端库存接口代码</a:t>
            </a:r>
          </a:p>
        </p:txBody>
      </p:sp>
    </p:spTree>
    <p:extLst>
      <p:ext uri="{BB962C8B-B14F-4D97-AF65-F5344CB8AC3E}">
        <p14:creationId xmlns:p14="http://schemas.microsoft.com/office/powerpoint/2010/main" val="1543556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AB5544-4726-49E6-A76C-8DB2BED7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32E10-3F4D-4BF7-A0AD-C4332E94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7625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E8843C-4C76-44FD-AE3F-208C2E94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物资业务闭环：从入库到追溯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B8E3044-4BE9-464A-8471-4471DA5D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rPr>
              <a:t>围绕真实科室流转建立全流程闭环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9B37A-0392-4D67-8A05-50834DA8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6984E-C91B-459C-ACA9-BC1586F8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23975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FA675-5F11-4A4A-8318-490EAAC4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621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FD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0ABD2-EBCC-4F52-B5A2-BDB1C9E3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1390650" cy="14287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39B33-2A05-45CC-A51A-CB2058A9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64DFD-717E-440F-99ED-8D40C2CB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入库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0F4FE-2B6C-4448-B09C-F5E55FE2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102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登记来源与数量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B3B29-D195-4B92-9ADE-AE45D690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8600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DAA8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0A128-888A-41EB-8596-3E18E778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9075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solidFill>
              <a:srgbClr val="0DAA8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D25B8-7552-4BED-A990-71318FCE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621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645213-C60E-43A3-879D-2D8F0456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76550"/>
            <a:ext cx="1390650" cy="14287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73221B-ED9F-4ABA-B628-2E44E940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765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6CE28-C958-4FF2-8971-97360171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申领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4D7F61-09E3-4F90-8473-E3EF9FE3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81400"/>
            <a:ext cx="102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科室提交需求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24007B-8D5D-4E38-BAFD-C1EBB8F2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8600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DAA8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B71722-265A-47F9-A55B-CD43FEC1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solidFill>
              <a:srgbClr val="0DAA8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E7227C-C4C6-4002-B91F-DDFA8D4D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621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36F16B-604C-4682-9B41-7C77F8C3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76550"/>
            <a:ext cx="1390650" cy="14287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BEBE29-4274-4DB5-903F-73D60937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765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B43BAF-6449-43FC-B38D-2671B142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审批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44A6A0-E2E0-45CD-9E9A-447BEB6C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81400"/>
            <a:ext cx="102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管理员审核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5A05A6-4CEB-461B-A99B-3DE46A01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8600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DAA8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CB44CC-CADD-4DC2-8685-14ED8141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solidFill>
              <a:srgbClr val="0DAA8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D79801-B8EC-4641-BDE2-4331E897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621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4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EADF34-3CFD-43F0-A403-04A18368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76550"/>
            <a:ext cx="1390650" cy="14287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B9A400-41F5-420F-B0DD-C439F4FB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765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EDE003-7661-4065-A433-BF2633C0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出库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EFEBD7-2A59-431A-8EF0-19DCBAA0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81400"/>
            <a:ext cx="102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库存扣减留痕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49FC6A-9277-43EE-8A4D-B6854BE8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DAA8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CEA127-11D9-43B8-8389-57C4A63E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9075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solidFill>
              <a:srgbClr val="0DAA8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947BE2-8E77-4EA1-B3E0-788F98B4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621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86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73F5EB-7ED3-4BC5-A03B-F71CB909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76550"/>
            <a:ext cx="1390650" cy="14287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A04766-B64A-443F-A884-9E82EC36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765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5075A9-EC77-4117-849D-610E8A8E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432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盘点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F2AB7F-6906-4A96-9FE5-34875744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81400"/>
            <a:ext cx="102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校准账实差异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01726A-8ABE-4DDE-8114-59392DB3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8600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DAA8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DC0131-6F66-477C-B4B2-9BEDB5FB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9075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solidFill>
              <a:srgbClr val="0DAA8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4C9E74-4C98-46A5-9212-8CB686AE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621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3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8648AC-08D5-4367-8F6C-46F3171B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76550"/>
            <a:ext cx="1390650" cy="14287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0752B1-D417-441F-8F88-7C5C84E8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765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BC3855-CD18-4FDE-A204-8200D0F3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432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追溯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9750B4-EC6B-4B52-A464-C21B21E9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81400"/>
            <a:ext cx="102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按单据与流水回看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F20E03-203B-48FE-A073-BCDBF56B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67300"/>
            <a:ext cx="83058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63A63"/>
          </a:solidFill>
          <a:ln xmlns:a="http://schemas.openxmlformats.org/drawingml/2006/main" w="0">
            <a:solidFill>
              <a:srgbClr val="063A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核心结果：每一次物资变化都有单据、人员、时间和库存影响，可用于复核与抽查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C7E8D2-860C-4EA4-A928-46FB6C09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E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A8EA5"/>
                </a:solidFill>
                <a:latin typeface="Microsoft YaHei"/>
                <a:ea typeface="Microsoft YaHei"/>
                <a:cs typeface="Microsoft YaHei"/>
              </a:rPr>
              <a:t>协和患者病历协同系统 | 领导汇报版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78C674-9EAA-47D2-8483-A5DB0EDB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7806EF8-AD50-4AA2-AC0F-814F38CD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198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AA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8AA0B8"/>
                </a:solidFill>
                <a:latin typeface="Microsoft YaHei"/>
                <a:ea typeface="Microsoft YaHei"/>
                <a:cs typeface="Microsoft YaHei"/>
              </a:rPr>
              <a:t>资料来源：项目 README、PRD、交付说明、领导检查指南、前后端库存接口代码</a:t>
            </a:r>
          </a:p>
        </p:txBody>
      </p:sp>
    </p:spTree>
    <p:extLst>
      <p:ext uri="{BB962C8B-B14F-4D97-AF65-F5344CB8AC3E}">
        <p14:creationId xmlns:p14="http://schemas.microsoft.com/office/powerpoint/2010/main" val="1131725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1B69BE-8D64-41DB-9734-674D7E10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FC681-8F15-42C8-8A33-7865EE2E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7625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42F67C-E71C-4661-954C-ED3FAC89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角色与职责分工：各司其职、协同闭环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0FA8D7D-7370-4837-BD0C-8BB1C81D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rPr>
              <a:t>按岗位拆分操作入口，降低试运行沟通成本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124B3-AC05-4D72-8023-EF7362B4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6D26A-3D5A-4EAA-860E-989F5DBF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23975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DF5DD-D760-4A59-A65D-66170598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2266950" cy="2647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60B7E-7163-4B11-841E-621C6BC4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9FB62-DE6C-4E7C-825B-354184AC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66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FD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BB869-6F8B-44FF-A5DB-50A59123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813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医生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63181-90E2-4FE3-A037-E95F5EC6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维护患者病历资料</a:t>
            </a:r>
          </a:p>
          <a:p xmlns:a="http://schemas.openxmlformats.org/drawingml/2006/main">
            <a:pPr algn="ctr">
              <a:def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查看历史记录与附件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B5AF0-FB32-4850-A850-B1E9C56D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24050"/>
            <a:ext cx="2266950" cy="2647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C25DC-6262-414F-82A5-D4C9C4B2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6AC49D-D8EB-4A09-AFEB-A2280C3E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66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40DE2D-D771-4D8D-B7EB-C4B24829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813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护士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2A3DE-30E4-4F8A-9E51-B6C4F7FF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3380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登记科室物资需求</a:t>
            </a:r>
          </a:p>
          <a:p xmlns:a="http://schemas.openxmlformats.org/drawingml/2006/main">
            <a:pPr algn="ctr">
              <a:def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执行领用与盘点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C5C5E7-5177-4A4B-813D-E1BB94E8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2266950" cy="2647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A2E053-60DC-4BC5-BD76-71AFFB37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C3064-ECE3-4A7A-85DA-6F5CD28D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66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BBCDE9-262E-4F9C-87EF-60C46EBC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813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0DBD58-3B30-42EE-AA81-A26FE5DE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3380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维护目录与库存</a:t>
            </a:r>
          </a:p>
          <a:p xmlns:a="http://schemas.openxmlformats.org/drawingml/2006/main">
            <a:pPr algn="ctr">
              <a:def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审批申领和异常处理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A8C27E-431C-4EBF-8E5F-83748383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24050"/>
            <a:ext cx="2266950" cy="2647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7867C0-5C81-4CBC-BBBD-DF6CD202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12DA29-DAA3-4B62-8B96-988A23DE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66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4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EB878B-9771-4A0F-B952-B9564AD0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813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领导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E4BCED-E293-41B1-9792-3EEC8845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3380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查看运行情况</a:t>
            </a:r>
          </a:p>
          <a:p xmlns:a="http://schemas.openxmlformats.org/drawingml/2006/main">
            <a:pPr algn="ctr">
              <a:def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抽查关键台账与闭环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7ADD07-6A99-4DF2-9524-999D9D63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257800"/>
            <a:ext cx="6153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0B6F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rPr>
              <a:t>权限设计原则：少打扰一线、多沉淀过程、管理端可直接抽查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CB93B7-B44E-442E-964B-24ED1A92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E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A8EA5"/>
                </a:solidFill>
                <a:latin typeface="Microsoft YaHei"/>
                <a:ea typeface="Microsoft YaHei"/>
                <a:cs typeface="Microsoft YaHei"/>
              </a:rPr>
              <a:t>协和患者病历协同系统 | 领导汇报版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69D262-EE76-4990-9699-B0702AD0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A0F21A-32DB-4DF4-9749-CF70E66D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198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AA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8AA0B8"/>
                </a:solidFill>
                <a:latin typeface="Microsoft YaHei"/>
                <a:ea typeface="Microsoft YaHei"/>
                <a:cs typeface="Microsoft YaHei"/>
              </a:rPr>
              <a:t>资料来源：项目 README、PRD、交付说明、领导检查指南、前后端库存接口代码</a:t>
            </a:r>
          </a:p>
        </p:txBody>
      </p:sp>
    </p:spTree>
    <p:extLst>
      <p:ext uri="{BB962C8B-B14F-4D97-AF65-F5344CB8AC3E}">
        <p14:creationId xmlns:p14="http://schemas.microsoft.com/office/powerpoint/2010/main" val="6523689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85138D-6628-4F13-8D1B-4163F38B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87FAD-924B-4F78-98F8-D4239C1B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7625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DE04E8-8770-43CE-A6D7-371DFA08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管理视角：每天看什么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987C1AA-1F20-4070-9CB9-5F69E097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rPr>
              <a:t>领导检查聚焦状态、异常和趋势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B9AF8-88F1-4CBD-9DA3-B42A97FF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B5B83-6110-47E0-B7EC-EFE99263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23975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8B340-7332-4252-AF87-5A1DCE3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266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F8CDF-A9E6-409D-9C91-2B3EDAC8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41272-6B38-49A4-8274-0948E82E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621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249E7-8735-4E82-995B-5415A395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今日申领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143677-197C-4537-9624-FFB5BB9A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E7187"/>
                </a:solidFill>
                <a:latin typeface="Microsoft YaHei"/>
                <a:ea typeface="Microsoft YaHei"/>
                <a:cs typeface="Microsoft YaHei"/>
              </a:rPr>
              <a:t>科室需求是否及时处理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5703E-418A-46B7-B3A3-16F3EE64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95450"/>
            <a:ext cx="2266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76C266-3EAB-4EF3-A51F-B2B3A039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954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4B48E-D626-4B32-BBD1-FC0F29EE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621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7A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7A45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05CBEE-FE3A-4621-8C45-18DB4145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71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库存预警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50CEC0-433D-4D49-9AE9-04902F71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57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E7187"/>
                </a:solidFill>
                <a:latin typeface="Microsoft YaHei"/>
                <a:ea typeface="Microsoft YaHei"/>
                <a:cs typeface="Microsoft YaHei"/>
              </a:rPr>
              <a:t>低库存是否已跟进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EF8D5D-B392-4B0F-A546-666B9CEB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95450"/>
            <a:ext cx="2266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C83CB2-7052-4254-B81B-519EE2A0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954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A5E059-1F8C-4791-AE98-F1069491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621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3AA16F-6041-4E23-B2A5-6B5C0D10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71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待审批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56F0DF-0106-4402-8A5B-A80F1428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57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E7187"/>
                </a:solidFill>
                <a:latin typeface="Microsoft YaHei"/>
                <a:ea typeface="Microsoft YaHei"/>
                <a:cs typeface="Microsoft YaHei"/>
              </a:rPr>
              <a:t>是否存在积压单据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3477FF-870A-41A9-80AA-81B6AC88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95450"/>
            <a:ext cx="2266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FA02AF-6625-4DF2-9AD1-7D29A41E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954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D1F458-0B11-4E12-A7B7-49553C88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621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1B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31B86B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71139A-3C01-4817-BA87-62B0B102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追溯闭环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E0F616-C2B7-46CC-8089-08C0955E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E7187"/>
                </a:solidFill>
                <a:latin typeface="Microsoft YaHei"/>
                <a:ea typeface="Microsoft YaHei"/>
                <a:cs typeface="Microsoft YaHei"/>
              </a:rPr>
              <a:t>流水是否完整可复核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CD5006-ED05-4EA7-A117-7E7DDED1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42862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2ABBE9-8C64-4288-B18B-4164B2E2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604D1F-B790-428F-BC2F-B36153A0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日常检查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F3886D-B29B-4A65-A5EE-06C075C6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52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F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D0E5EF-3714-4A4B-9F8A-E9FCFC97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4767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看库存预警和待办审批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FCDB17-1196-417A-80BD-8750469D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53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F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F4A87D-7F3C-442E-8F73-9F229C78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768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抽查物资流水与单据状态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F4AF9E-BF7D-406F-80EC-A1452B37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76650"/>
            <a:ext cx="42862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06ED2F-6F28-4E7E-B47C-F71DEFC5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7665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D61959-C41F-4620-BAE4-086CAAEA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19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周度复盘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95CDF1-803F-4AFA-8D5E-09766F68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52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7BE27C-E050-49C6-BA4D-D8513432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767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复核盘点差异和异常处理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21417E-575F-4392-A7E1-9BA5D172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53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EC759C-74F8-4739-AC10-BF080F87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8768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沉淀试运行问题清单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24FFED-FD03-4B78-B1C1-3B4030E8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E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A8EA5"/>
                </a:solidFill>
                <a:latin typeface="Microsoft YaHei"/>
                <a:ea typeface="Microsoft YaHei"/>
                <a:cs typeface="Microsoft YaHei"/>
              </a:rPr>
              <a:t>协和患者病历协同系统 | 领导汇报版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101AD1-BBB5-46F8-9951-C965FBDF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AA2CC7-A81A-4849-8669-B14866D1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198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AA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8AA0B8"/>
                </a:solidFill>
                <a:latin typeface="Microsoft YaHei"/>
                <a:ea typeface="Microsoft YaHei"/>
                <a:cs typeface="Microsoft YaHei"/>
              </a:rPr>
              <a:t>资料来源：项目 README、PRD、交付说明、领导检查指南、前后端库存接口代码</a:t>
            </a:r>
          </a:p>
        </p:txBody>
      </p:sp>
    </p:spTree>
    <p:extLst>
      <p:ext uri="{BB962C8B-B14F-4D97-AF65-F5344CB8AC3E}">
        <p14:creationId xmlns:p14="http://schemas.microsoft.com/office/powerpoint/2010/main" val="10153362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C4E230-A1F1-4B37-8302-496C2036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7C6F7-15AC-49F3-98F0-C9E0364A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7625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47BF2C-274B-47B1-B2B0-FED352B5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内测交付方案：小范围、真流程、快反馈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9C5CC79-0104-4C73-9F44-E9134128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rPr>
              <a:t>用一线真实操作验证闭环完整性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C5E8B-DB90-4AA6-BE62-31BD4784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36FB4-DD2C-4267-A4F4-923FAC12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23975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0921B-B562-405E-AF94-987A438C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05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FD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AD9DC-C121-4F92-92E7-2B95B0D4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19400"/>
            <a:ext cx="20383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AAAC5-500B-4523-A771-6CDEA709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194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A722C1-537F-4D83-8F22-DD58BC5A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准备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B8D00-7E4F-409F-BDB2-E8F08FD7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623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账号、基础资料、物资目录初始化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BBB84-229F-4256-B53E-611FBD7B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098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DAA8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42A4B-A068-4F2A-8F5D-689906A6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1455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solidFill>
              <a:srgbClr val="0DAA8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86E7B-FC5C-4B2C-9CEF-9E304604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9918A-8DDF-487C-A37A-9B1843A1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20383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D035D-CD61-4ED6-BF32-39CCA1D1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F909F-F97D-4995-BDCC-A7B26E51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051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试运行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1929E8-0A9B-4751-AE19-34D87CBB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5623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按真实科室流程完成病历与物资操作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591D2-661C-4C61-9C3B-0F9EBCD5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098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DAA8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EDC084-34C3-4387-B39B-9529283B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solidFill>
              <a:srgbClr val="0DAA8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FB979D-5DF4-45C2-B466-ED6CF2C2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3AF12D-B907-43DE-81DB-87DE7AE5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20383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347FBB-974B-4868-AEC7-82A78D0D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3CB293-5665-49A7-BB76-45CD2983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051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问题闭环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DC8EDE-F31B-4310-83EA-B0C407D0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623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收集问题、修复验证、更新操作说明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86FB72-5F28-4462-9631-CE24FB4C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098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DAA8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4721D2-42B4-4A88-AF98-EC7C14C2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1455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solidFill>
              <a:srgbClr val="0DAA8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C5EF4B-F35B-48F9-85B9-74719C8A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05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4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B93226-B5E1-4655-B119-562ABC2B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0383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9C6442-E3D5-4A7D-B2E2-432D77A9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D44FE2-180F-42F3-B3E6-30431C07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051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EC5770-E6A0-4F40-88C9-2C4906CA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623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按领导检查口径完成抽查和复核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4202E6-B939-4BDD-AE91-602CF91F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19700"/>
            <a:ext cx="6400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FF7"/>
          </a:solidFill>
          <a:ln xmlns:a="http://schemas.openxmlformats.org/drawingml/2006/main" w="9525">
            <a:solidFill>
              <a:srgbClr val="0DAA8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rPr>
              <a:t>交付物：系统功能、操作指南、检查清单、问题台账、验收记录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BAA0FD-F07C-4F23-8DAA-6EA413BF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E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A8EA5"/>
                </a:solidFill>
                <a:latin typeface="Microsoft YaHei"/>
                <a:ea typeface="Microsoft YaHei"/>
                <a:cs typeface="Microsoft YaHei"/>
              </a:rPr>
              <a:t>协和患者病历协同系统 | 领导汇报版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9A8C81-AF27-430B-B050-990E9500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FAD86E-D30A-4039-8009-76B2AD26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198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AA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8AA0B8"/>
                </a:solidFill>
                <a:latin typeface="Microsoft YaHei"/>
                <a:ea typeface="Microsoft YaHei"/>
                <a:cs typeface="Microsoft YaHei"/>
              </a:rPr>
              <a:t>资料来源：项目 README、PRD、交付说明、领导检查指南、前后端库存接口代码</a:t>
            </a:r>
          </a:p>
        </p:txBody>
      </p:sp>
    </p:spTree>
    <p:extLst>
      <p:ext uri="{BB962C8B-B14F-4D97-AF65-F5344CB8AC3E}">
        <p14:creationId xmlns:p14="http://schemas.microsoft.com/office/powerpoint/2010/main" val="1353024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3F502F-4518-4492-A57C-3D52A123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86EDE-A2D8-415B-AD73-08B4A1B1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7625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F24836-142F-42D9-9D92-19B05F90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内测验收标准：看得见、跑得通、查得到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DA24587-0DDC-4ED5-ABE7-6D042308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rPr>
              <a:t>从功能、流程、数据、体验四个维度确认上线基础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0FC22-D745-40D6-BFC9-0E903B72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BEDCA-CC92-41FE-B8DA-780D2F51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23975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5C10B-31FB-4032-A7D8-8E62602D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95450"/>
            <a:ext cx="99441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D676C-73A8-4FAD-81B3-F5FA0FD4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954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6683E-4D70-4730-92A5-398AF935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90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FD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7F49B-84C0-4360-AAD1-350A2816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57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功能可用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B41DE-29BB-4E8F-89D1-65D45045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669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病历、附件、物资、库存等核心功能可操作。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2B4BB8-AB8C-4DBC-85D5-505E48DA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99441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7DABB0-C441-453E-B666-60855920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67247-BE62-4AA8-9F67-A35B751A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05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AA8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BFA6C5-E93B-4C9C-8073-6FCEF562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717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流程跑通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BF1C1-85CB-495B-B63D-F793F3E2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81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申领、审批、入库、出库、盘点形成闭环。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3C75AA-C345-4CC6-A0E9-1065272F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4250"/>
            <a:ext cx="99441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A9CA3-BF20-467E-86B0-5CEB0DE7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42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BE417C-62CE-4E4D-9A88-E3C4E49E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19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8A5F91-0A02-4088-9BB4-286D4B90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861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数据可信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08E83C-4B9C-461C-9801-A881CDAD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95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单据、流水、库存、操作人和时间一致可追溯。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D04C53-45A3-46C0-B6E2-8D1CAA16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38650"/>
            <a:ext cx="99441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311C84-B338-4B8B-8D9C-70095227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386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6A50E2-909F-4E64-A9BB-8B3F49FC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33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4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86C7CA-C9C0-46DD-BF58-A060AE55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005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问题可管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8402DC-CF4A-4A58-AE70-5C3DE89A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101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内测问题有记录、有优先级、有修复验证。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562F31-9FC0-4ED0-B679-7C13CC0C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600700"/>
            <a:ext cx="6934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63A63"/>
          </a:solidFill>
          <a:ln xmlns:a="http://schemas.openxmlformats.org/drawingml/2006/main" w="0">
            <a:solidFill>
              <a:srgbClr val="063A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验收结论口径：能够支撑门诊内测范围内的日常协同和管理抽查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E24AD0-D7C0-4524-8100-6A456981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E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A8EA5"/>
                </a:solidFill>
                <a:latin typeface="Microsoft YaHei"/>
                <a:ea typeface="Microsoft YaHei"/>
                <a:cs typeface="Microsoft YaHei"/>
              </a:rPr>
              <a:t>协和患者病历协同系统 | 领导汇报版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C8ECA3-2BBA-4D42-A40A-BC986160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FD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217417-DE22-41B1-AC49-2109D79E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198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AA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8AA0B8"/>
                </a:solidFill>
                <a:latin typeface="Microsoft YaHei"/>
                <a:ea typeface="Microsoft YaHei"/>
                <a:cs typeface="Microsoft YaHei"/>
              </a:rPr>
              <a:t>资料来源：项目 README、PRD、交付说明、领导检查指南、前后端库存接口代码</a:t>
            </a:r>
          </a:p>
        </p:txBody>
      </p:sp>
    </p:spTree>
    <p:extLst>
      <p:ext uri="{BB962C8B-B14F-4D97-AF65-F5344CB8AC3E}">
        <p14:creationId xmlns:p14="http://schemas.microsoft.com/office/powerpoint/2010/main" val="16553611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3A6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7517C3-FA81-40A6-B711-CC071E62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9D2BB-FD44-4D36-BEB3-7F579E11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7625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D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00317-88FC-436D-8586-96B3C1F3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1F23C-809E-481A-AB2E-72EADF7A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D802E-4253-4043-8D52-43C21777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后续演进路径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8F54C-E357-4F76-89D9-F4AF58BC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D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DDF7FF"/>
                </a:solidFill>
                <a:latin typeface="Microsoft YaHei"/>
                <a:ea typeface="Microsoft YaHei"/>
                <a:cs typeface="Microsoft YaHei"/>
              </a:rPr>
              <a:t>以本次内测闭环为基础，逐步扩展到更完整的院内协同能力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9EFA3-0C39-44B5-8DA3-9ECD07D8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66950"/>
            <a:ext cx="27813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04C78"/>
          </a:solidFill>
          <a:ln xmlns:a="http://schemas.openxmlformats.org/drawingml/2006/main" w="19050">
            <a:solidFill>
              <a:srgbClr val="1FB6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FB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FB6D9"/>
                </a:solidFill>
                <a:latin typeface="Microsoft YaHei"/>
                <a:ea typeface="Microsoft YaHei"/>
                <a:cs typeface="Microsoft YaHei"/>
              </a:rPr>
              <a:t>近期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C0F61-D925-4ECA-8A20-79557D95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62300"/>
            <a:ext cx="198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优化操作体验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补齐异常处理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完善统计看板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22B48B-C481-49F5-9B64-0552D523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290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D1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0A385-7417-4B3E-84F2-8D4E3250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0C636-B90D-4455-A4EF-0F2DC868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27813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04C78"/>
          </a:solidFill>
          <a:ln xmlns:a="http://schemas.openxmlformats.org/drawingml/2006/main" w="19050">
            <a:solidFill>
              <a:srgbClr val="0DAA8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DAA8E"/>
                </a:solidFill>
                <a:latin typeface="Microsoft YaHei"/>
                <a:ea typeface="Microsoft YaHei"/>
                <a:cs typeface="Microsoft YaHei"/>
              </a:rPr>
              <a:t>中期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20907-44AC-42B1-AF7D-933D1A6F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62300"/>
            <a:ext cx="198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扩展更多科室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沉淀标准流程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强化权限审计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D1BE6D-3D7D-461C-8AF9-80B3DFD1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290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D1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9DBDB-892D-48E4-A238-7D2F19B9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705DC-860B-4757-ADB6-BEFDB373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66950"/>
            <a:ext cx="27813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04C78"/>
          </a:solidFill>
          <a:ln xmlns:a="http://schemas.openxmlformats.org/drawingml/2006/main" w="19050">
            <a:solidFill>
              <a:srgbClr val="FFB0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B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B020"/>
                </a:solidFill>
                <a:latin typeface="Microsoft YaHei"/>
                <a:ea typeface="Microsoft YaHei"/>
                <a:cs typeface="Microsoft YaHei"/>
              </a:rPr>
              <a:t>远期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A8C41E-9CD0-40B4-B26B-E854C5A2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198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联动院内系统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建立数据分析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支撑精细管理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9E6336-E950-4B1B-A8F4-57977B4A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91150"/>
            <a:ext cx="8496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3A63"/>
                </a:solidFill>
                <a:latin typeface="Microsoft YaHei"/>
                <a:ea typeface="Microsoft YaHei"/>
                <a:cs typeface="Microsoft YaHei"/>
              </a:rPr>
              <a:t>建议：以“可查、可控、可复制”为标准推进内测试运行和阶段验收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C4A019-15B8-4C9C-BB82-C66B7E4D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096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0062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2026-06-17T09:48:02.3580000Z</dcterms:created>
  <dcterms:modified xsi:type="dcterms:W3CDTF">2026-06-17T09:48:02.3580000Z</dcterms:modified>
</coreProperties>
</file>